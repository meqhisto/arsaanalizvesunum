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ARSA YATIRIM ANALİZ RAPORU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{konum}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ARSA BİLGİLERİ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Konum: {konum}</a:t>
            </a:r>
          </a:p>
          <a:p>
            <a:r>
              <a:t>• Metrekare: {metrekare} m²</a:t>
            </a:r>
          </a:p>
          <a:p>
            <a:r>
              <a:t>• İmar Durumu: {imar_durumu}</a:t>
            </a:r>
          </a:p>
          <a:p>
            <a:r>
              <a:t>• Fiyat: {fiyat} TL</a:t>
            </a:r>
          </a:p>
          <a:p>
            <a:r>
              <a:t>• Metrekare Fiyatı: {metrekare_fiyat} TL/m²</a:t>
            </a:r>
          </a:p>
          <a:p>
            <a:r>
              <a:t>• Bölge Ortalama Fiyatı: {bolge_fiyat} TL/m²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ANALİZ SONUÇLARI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Bölge Karşılaştırması: {bolge_karsilastirma}%</a:t>
            </a:r>
          </a:p>
          <a:p>
            <a:r>
              <a:t>• Potansiyel Getiri: %{potansiyel_getiri}</a:t>
            </a:r>
          </a:p>
          <a:p>
            <a:r>
              <a:t>• Tavsiye Edilen Yatırım Süresi: {yatirim_suresi} yıl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YATIRIM DEĞERLENDİRMESİ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{temel_ozet}</a:t>
            </a:r>
          </a:p>
          <a:p/>
          <a:p>
            <a:r>
              <a:t>{yatirim_ozet}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TAVSİYELER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{tavsiyeler}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GAYRİMENKUL ANALİZ RAPORU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800"/>
            </a:pPr>
            <a:r>
              <a:t>İzmir, Bayraklı</a:t>
            </a:r>
          </a:p>
          <a:p>
            <a:pPr algn="ctr">
              <a:defRPr sz="2000"/>
            </a:pPr>
            <a:r>
              <a:t>09.06.2025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Portföy Sorumlusu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G-20250425-WA0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2103120" cy="21031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5943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</a:tblGrid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Ad Soyad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Altan Barış Cömert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Ünvan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Broker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Firma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GMA Onyedi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E-posta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altanbariscomert@inovanettechs.com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Telefon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05326206517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Adres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Barbaros Mahallesi Atatürk Caddesi no:318/28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Analiz Tarihi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-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Arsa Bilgileri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3152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</a:tblGrid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İl/İlçe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İzmir/Bayraklı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Mahalle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Salhane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Ada/Parsel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8722/3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Alan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16.300,00 m²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İmar Durumu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konut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TAKS/KAKS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0.3/1.5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Toplam Fiyat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10.000.000.000,00 TL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m² Fiyatı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613.496,93 TL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Altyapı Durumu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64592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</a:tblGrid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Yol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 algn="ctr">
                        <a:defRPr sz="1100" b="1">
                          <a:solidFill>
                            <a:srgbClr val="008000"/>
                          </a:solidFill>
                        </a:defRPr>
                      </a:pPr>
                      <a:r>
                        <a:t>✓ Var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Elektrik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 algn="ctr">
                        <a:defRPr sz="1100" b="1">
                          <a:solidFill>
                            <a:srgbClr val="008000"/>
                          </a:solidFill>
                        </a:defRPr>
                      </a:pPr>
                      <a:r>
                        <a:t>✓ Var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Su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 algn="ctr">
                        <a:defRPr sz="1100" b="1">
                          <a:solidFill>
                            <a:srgbClr val="FF0000"/>
                          </a:solidFill>
                        </a:defRPr>
                      </a:pPr>
                      <a:r>
                        <a:t>✗ Yok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Doğalgaz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 algn="ctr">
                        <a:defRPr sz="1100" b="1">
                          <a:solidFill>
                            <a:srgbClr val="FF0000"/>
                          </a:solidFill>
                        </a:defRPr>
                      </a:pPr>
                      <a:r>
                        <a:t>✗ Yok</a:t>
                      </a:r>
                    </a:p>
                  </a:txBody>
                  <a:tcPr anchor="t"/>
                </a:tc>
              </a:tr>
              <a:tr h="45720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Kanalizasyon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 algn="ctr">
                        <a:defRPr sz="1100" b="1">
                          <a:solidFill>
                            <a:srgbClr val="008000"/>
                          </a:solidFill>
                        </a:defRPr>
                      </a:pPr>
                      <a:r>
                        <a:t>✓ Var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İnşaat Alanı Hesaplaması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64592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</a:tblGrid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Taban Alanı (m²)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4890.00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Toplam İnşaat Alanı (m²)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24450.00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Teorik Kat Sayısı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5.00</a:t>
                      </a:r>
                    </a:p>
                  </a:txBody>
                  <a:tcPr anchor="t"/>
                </a:tc>
              </a:tr>
              <a:tr h="502920">
                <a:tc>
                  <a:txBody>
                    <a:bodyPr/>
                    <a:lstStyle/>
                    <a:p/>
                    <a:p>
                      <a:pPr>
                        <a:defRPr b="1" sz="1100"/>
                      </a:pPr>
                      <a:r>
                        <a:t>Tam Kat Sayısı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SWOT Analizi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886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b="1" sz="1600">
                <a:solidFill>
                  <a:srgbClr val="008000"/>
                </a:solidFill>
              </a:defRPr>
            </a:pPr>
            <a:r>
              <a:t>Güçlü Yönler</a:t>
            </a:r>
          </a:p>
          <a:p>
            <a:pPr>
              <a:defRPr sz="1100" i="1"/>
            </a:pPr>
            <a:r>
              <a:t>Veri bulunamadı.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188720"/>
            <a:ext cx="3886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b="1" sz="1600">
                <a:solidFill>
                  <a:srgbClr val="FF0000"/>
                </a:solidFill>
              </a:defRPr>
            </a:pPr>
            <a:r>
              <a:t>Zayıf Yönler</a:t>
            </a:r>
          </a:p>
          <a:p>
            <a:pPr>
              <a:defRPr sz="1100" i="1"/>
            </a:pPr>
            <a:r>
              <a:t>Veri bulunamadı.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3886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b="1" sz="1600">
                <a:solidFill>
                  <a:srgbClr val="0000FF"/>
                </a:solidFill>
              </a:defRPr>
            </a:pPr>
            <a:r>
              <a:t>Fırsatlar</a:t>
            </a:r>
          </a:p>
          <a:p>
            <a:pPr>
              <a:defRPr sz="1100" i="1"/>
            </a:pPr>
            <a:r>
              <a:t>Veri bulunamadı.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4023360"/>
            <a:ext cx="3886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b="1" sz="1600">
                <a:solidFill>
                  <a:srgbClr val="FFA500"/>
                </a:solidFill>
              </a:defRPr>
            </a:pPr>
            <a:r>
              <a:t>Tehditler</a:t>
            </a:r>
          </a:p>
          <a:p>
            <a:pPr>
              <a:defRPr sz="1100" i="1"/>
            </a:pPr>
            <a:r>
              <a:t>Veri bulunamadı.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Analiz Özeti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b="1" sz="1800"/>
            </a:pPr>
            <a:r>
              <a:t>Temel Değerlendirme</a:t>
            </a:r>
          </a:p>
          <a:p>
            <a:pPr lvl="1">
              <a:spcAft>
                <a:spcPts val="1200"/>
              </a:spcAft>
              <a:defRPr sz="1200"/>
            </a:pPr>
            <a:r>
              <a:t>Değerlendirme bulunamadı.</a:t>
            </a:r>
          </a:p>
          <a:p>
            <a:pPr>
              <a:spcAft>
                <a:spcPts val="500"/>
              </a:spcAft>
              <a:defRPr b="1" sz="1800"/>
            </a:pPr>
            <a:r>
              <a:t>Yatırım Değerlendirmesi</a:t>
            </a:r>
          </a:p>
          <a:p>
            <a:pPr lvl="1">
              <a:spcAft>
                <a:spcPts val="1200"/>
              </a:spcAft>
              <a:defRPr sz="1200"/>
            </a:pPr>
            <a:r>
              <a:t>Değerlendirme bulunamadı.</a:t>
            </a:r>
          </a:p>
          <a:p>
            <a:pPr>
              <a:spcAft>
                <a:spcPts val="500"/>
              </a:spcAft>
              <a:defRPr b="1" sz="1800"/>
            </a:pPr>
            <a:r>
              <a:t>Uygunluk Puanı Özeti</a:t>
            </a:r>
          </a:p>
          <a:p>
            <a:pPr lvl="1">
              <a:spcAft>
                <a:spcPts val="1200"/>
              </a:spcAft>
              <a:defRPr sz="1200"/>
            </a:pPr>
            <a:r>
              <a:t>Uygunluk puanı özeti bulunamadı.</a:t>
            </a:r>
          </a:p>
          <a:p>
            <a:pPr>
              <a:spcAft>
                <a:spcPts val="500"/>
              </a:spcAft>
              <a:defRPr b="1" sz="1800"/>
            </a:pPr>
            <a:r>
              <a:t>Öneriler ve Tavsiyeler</a:t>
            </a:r>
          </a:p>
          <a:p>
            <a:pPr lvl="1">
              <a:spcAft>
                <a:spcPts val="1200"/>
              </a:spcAft>
              <a:defRPr sz="1200"/>
            </a:pPr>
            <a:r>
              <a:t>Tavsiye bulunamadı.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Arsa Fotoğrafları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/>
            </a:pPr>
            <a:r>
              <a:t>Bu arsa için fotoğraf bulunmamaktadır.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Analiz Detayları QR Kod</a:t>
            </a:r>
          </a:p>
        </p:txBody>
      </p:sp>
      <p:pic>
        <p:nvPicPr>
          <p:cNvPr id="3" name="Picture 2" descr="q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46304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48463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Bu QR kodu tarayarak analiz detaylarına ulaşabilirsiniz.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